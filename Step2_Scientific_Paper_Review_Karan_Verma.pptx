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4630400" cy="8229600"/>
  <p:notesSz cx="8229600" cy="14630400"/>
  <p:embeddedFontLst>
    <p:embeddedFont>
      <p:font typeface="Merriweather Light" panose="00000400000000000000" pitchFamily="2" charset="0"/>
      <p:regular r:id="rId21"/>
    </p:embeddedFont>
    <p:embeddedFont>
      <p:font typeface="Open Sans" panose="020B0606030504020204" pitchFamily="34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7520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4422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Scientific Paper Review for Intelligent Transportation Systems (ITS)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4555927" y="2952512"/>
            <a:ext cx="551854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MAC Research Interview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85964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Karan Verma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6830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 Thesis — Fall 2026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863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Wilfrid Laurier University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8044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Supervisor: Dr. Sukhjit Singh Sehra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42246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09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Why These Papers?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033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papers address two critical and complementary challenges in Intelligent Transportation Systems: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32136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676412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93790" y="3850719"/>
            <a:ext cx="34262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Explainability Challenge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341138"/>
            <a:ext cx="419635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Traffic prediction models are often treated as black boxes. Understanding model decisions is essential for stakeholder trust and regulatory compliance in autonomous systems.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16962" y="332136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676412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216962" y="38507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Privacy Challenge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6962" y="4341138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Centralized traffic data collection raises privacy concerns. Federated learning enables collaborative AI without compromising data sovereignty.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40133" y="332136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676412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9640133" y="38507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Research Gap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40133" y="4341138"/>
            <a:ext cx="419635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Few studies integrate both explainability and privacy. These papers represent the state-of-the-art in addressing these individual challenges, motivating investigation into their integration.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7677"/>
            <a:ext cx="60346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Paper 1: Methodology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8008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935129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93790" y="3109436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Encode spatio-temporal traffic signals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954185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historical traffic data through neural networks to capture spatial and temporal patterns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58008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935129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216962" y="3109436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Convert numeric data to text prompts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954185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 numerical predictions into structured natural language prompts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58008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935129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9640133" y="3109436"/>
            <a:ext cx="34320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Fine-tuned LLM outputs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599855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both predictions and human-readable explanations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46806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Concept: Data → Language → Prediction + Explanation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608611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Note: Large Language Models are discussed as part of the reviewed literature and were not implemented in the coding task.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4495"/>
            <a:ext cx="57891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Research Motivation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3690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Intelligent Transportation Systems face three interconnected challenges: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45495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878860" y="349746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532823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Prediction Accuracy and Interpretability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377571"/>
            <a:ext cx="342149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Traffic forecasting models must be both accurate and interpretable. Black-box approaches limit stakeholder adoption and regulatory compliance.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35893" y="345495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320963" y="349746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973008" y="3532823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 Privacy and Governance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73008" y="4377571"/>
            <a:ext cx="342149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Centralized collection of location data raises privacy concerns and regulatory barriers. Distributed learning approaches are needed.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77995" y="345495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9763065" y="349746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415111" y="35328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Integration Gap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415111" y="4023241"/>
            <a:ext cx="342149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Few studies address both explainability and privacy simultaneously. This presentation examines state-of-the-art approaches to each challenge.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379" y="691991"/>
            <a:ext cx="5353407" cy="66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Paper 1: Overview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9379" y="1866305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Title: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49379" y="2402919"/>
            <a:ext cx="6304598" cy="666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Towards Explainable Traffic Flow Prediction with Large Language Models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9379" y="3271004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Authors: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49379" y="3807619"/>
            <a:ext cx="6304598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Guo et al.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379" y="4342686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Year: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379" y="4879300"/>
            <a:ext cx="6304598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2024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49379" y="5414367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arXiv: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49379" y="5950982"/>
            <a:ext cx="6304598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2404.02937v3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49379" y="6486049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Dataset: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49379" y="7022663"/>
            <a:ext cx="6304598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METR-LA (Los Angeles traffic data)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584043" y="1866305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Research Goal: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584043" y="2402919"/>
            <a:ext cx="6304598" cy="99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Make traffic prediction interpretable and trustworthy by integrating large language models to generate human-readable explanations alongside numerical forecasts.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32409"/>
            <a:ext cx="78639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Paper 1: Research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94817"/>
            <a:ext cx="4196358" cy="2802374"/>
          </a:xfrm>
          <a:prstGeom prst="roundRect">
            <a:avLst>
              <a:gd name="adj" fmla="val 5221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763310" y="3294817"/>
            <a:ext cx="121920" cy="2802374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1142524" y="3552111"/>
            <a:ext cx="359033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Convert traffic time-series data into natural language representations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751189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LLMs to process and reason about temporal traffic patterns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294817"/>
            <a:ext cx="4196358" cy="2802374"/>
          </a:xfrm>
          <a:prstGeom prst="roundRect">
            <a:avLst>
              <a:gd name="adj" fmla="val 5221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5186482" y="3294817"/>
            <a:ext cx="121920" cy="2802374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565696" y="3552111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Generate predictions with explanations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4396859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Produce both numerical forecasts and human-readable reasoning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294817"/>
            <a:ext cx="4196358" cy="2802374"/>
          </a:xfrm>
          <a:prstGeom prst="roundRect">
            <a:avLst>
              <a:gd name="adj" fmla="val 5221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9609653" y="3294817"/>
            <a:ext cx="121920" cy="2802374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9988868" y="3552111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Improve transparency and decision trust in ITS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4396859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transportation practitioners to understand and validate model outputs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64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Paper 1: Results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88883"/>
            <a:ext cx="6407944" cy="2093714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1051084" y="2746177"/>
            <a:ext cx="35806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Competitive Performance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236595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xTP-LLM achieves competitive prediction accuracy relative to LSTM and GNN baselines on METR-LA dataset.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488883"/>
            <a:ext cx="6408063" cy="2093714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7685842" y="2746177"/>
            <a:ext cx="36546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Interpretability Validation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85842" y="3236595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Generated explanations align with domain expert assessments in a  majority of evaluated cases, suggesting meaningful semantic content.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7944" cy="2093714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1051084" y="5066705"/>
            <a:ext cx="35597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Generalization Capability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084" y="5557123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demonstrates transfer capability to unseen traffic networks, indicating potential for cross-city deployment.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809411"/>
            <a:ext cx="6408063" cy="2093714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768584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Human Evaluation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5557123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Practitioners rated explanations as comprehensible and actionable, though manual verification remains necessary.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4346"/>
            <a:ext cx="97752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Paper 1: Limitations &amp; Future 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10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Limitations: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91245"/>
            <a:ext cx="6244709" cy="326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Computational Cost — LLM integration introduces significant inference latency, limiting real-time deployment in operational systems.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Validation Requirements — Explanations require manual verification against ground truth, reducing practical scalability.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 Specificity — Evaluation limited to METR-LA; generalization to diverse traffic regimes remains unexplored.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710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Future Directions: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291245"/>
            <a:ext cx="6244709" cy="217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Latency Optimization — Investigate model compression and quantization techniques for real-time inference.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Validation — Develop metrics for explanation quality without manual assessment.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Multi-Modal Integration — Extend framework to incorporate visual and contextual data sources.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51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Paper 2: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408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Title: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82201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Federated Learning in Intelligent Transportation Systems: Recent Advances and Open Problems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7746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Authors: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3557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Banik et al.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945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Year: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552664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2023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1163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arXiv: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3790" y="669750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2309.11039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22408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Research Goal: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99521" y="282201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privacy-preserving distributed training of traffic AI models across multiple jurisdictions and vehicle networks without centralizing sensitive data.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17182"/>
            <a:ext cx="79362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Paper 2: Research 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7958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34633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93790" y="3908941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Train ITS models without sharing raw data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75368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collaborative learning while maintaining data sovereignty across cities and agencies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337958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734633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216962" y="3908941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Support distributed vehicle and sensor networks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475368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Aggregate insights from edge devices without centralizing sensitive location data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337958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734633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9640133" y="3908941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Improve scalability across cities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475368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nationwide or multi-region traffic AI systems with privacy guarantees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23812"/>
            <a:ext cx="61069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Paper 2: Methodology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23317"/>
            <a:ext cx="46083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Federated Learning Architecture: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1780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772852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93790" y="3947160"/>
            <a:ext cx="40221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FedAvg aggregation protocol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437578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Coordinate model updates across distributed clients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16962" y="341780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772852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216962" y="3947160"/>
            <a:ext cx="39710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Handles Non-IID traffic data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6962" y="4437578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Manages heterogeneous traffic patterns across regions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40133" y="341780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772852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9640133" y="3947160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Evaluated on METR-LA and PEMS-BAY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40133" y="4791908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Tested on real-world Los Angeles and San Francisco Bay Area datasets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59428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Innovation: Distributed training maintains local data privacy while achieving global model convergence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64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Paper 2: Results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88883"/>
            <a:ext cx="6407944" cy="2093714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1051084" y="2746177"/>
            <a:ext cx="31352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Accuracy Preservation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236595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Federated models maintain strong accuracy preservation relative to centralized training, with moderate performance degradation.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488883"/>
            <a:ext cx="6408063" cy="2093714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7685842" y="2746177"/>
            <a:ext cx="37352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Communication Efficiency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85842" y="3236595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Aggregation protocols reduce bandwidth requirements compared to naive parameter averaging, though overhead remains significant.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7944" cy="2093714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1051084" y="5066705"/>
            <a:ext cx="29147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Privacy Preservation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084" y="5557123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raw location or behavioral data is shared between jurisdictions; privacy guarantees depend on aggregation protocol design.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809411"/>
            <a:ext cx="6408063" cy="2093714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7685842" y="5066705"/>
            <a:ext cx="39921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Edge Deployment Feasibility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5557123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 supports deployment on heterogeneous edge devices, though synchronization complexity increases with network size.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4346"/>
            <a:ext cx="98475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Paper 2: Limitations &amp; Future 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10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Limitations: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91245"/>
            <a:ext cx="6244709" cy="326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Communication Overhead — Frequent synchronization rounds increase network traffic; scalability to large-scale networks remains constrained.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Heterogeneity Challenges — Non-IID data distribution across regions complicates convergence analysis and model stability.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Deployment Complexity — Multi-agency coordination and infrastructure requirements present practical barriers to implementation.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710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Future Directions: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291245"/>
            <a:ext cx="6244709" cy="217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Communication-Efficient Protocols — Develop gradient compression and asynchronous aggregation methods.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Theoretical Analysis — Establish convergence guarantees under heterogeneous data distributions.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Pilot Studies — Conduct real-world evaluation with multiple transportation agencies.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463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Critical Observations &amp; Limitations Across Both Papers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62914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Shared Limitations: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270052"/>
            <a:ext cx="13042821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Evaluation on limited datasets (METR-LA, PEMS-BAY) — Results may not generalize to diverse traffic patterns in smaller cities or developing regions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Computational overhead — Both approaches increase system complexity; real-time deployment remains challenging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Lack of integration — Papers address explainability and privacy separately; combined systems are unexplored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6191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Research Gaps:</a:t>
            </a:r>
            <a:endParaRPr lang="en-US" sz="3550" dirty="0"/>
          </a:p>
        </p:txBody>
      </p:sp>
      <p:sp>
        <p:nvSpPr>
          <p:cNvPr id="6" name="Text 4"/>
          <p:cNvSpPr/>
          <p:nvPr/>
        </p:nvSpPr>
        <p:spPr>
          <a:xfrm>
            <a:off x="793790" y="5969049"/>
            <a:ext cx="13042821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discussion of adversarial robustness in both approaches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Insufficient analysis of how explanations perform under distribution shift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evaluation of federated learning with heterogeneous model architectures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788"/>
            <a:ext cx="85661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Connection to My Coding Task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51196"/>
            <a:ext cx="13042821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METR-LA traffic forecasting using classical ML and LSTM models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Paper 1 motivates future research in explainable traffic prediction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Paper 2 motivates federated learning approaches for scalable ITS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papers form a foundation for thesis-level research directions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394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Future Research Direction: Integrated Explainable Federated Learning for ITS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8513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878860" y="302764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30630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Unified Framework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3553420"/>
            <a:ext cx="564249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a federated learning architecture that maintains explainability across distributed nodes. Challenge: How to generate consistent explanations when models diverge during training?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56884" y="298513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7541955" y="302764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8194000" y="3063002"/>
            <a:ext cx="46274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Privacy-Preserving Explanations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94000" y="3553420"/>
            <a:ext cx="56426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 explanations do not leak sensitive information about local traffic patterns. Investigate differential privacy bounds for natural language outputs.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45865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878860" y="550116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530906" y="5536525"/>
            <a:ext cx="34360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Evaluation Methodology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30906" y="6026944"/>
            <a:ext cx="564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Establish benchmarks for evaluating explainability in federated settings. Metrics: explanation consistency, privacy leakage, computational efficiency.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56884" y="545865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7541955" y="550116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8194000" y="5536525"/>
            <a:ext cx="30514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Real-World Validation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94000" y="6026944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Pilot with multi-city transportation networks (e.g., Ontario municipalities) to assess practical deployment feasibility.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079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00300"/>
            <a:ext cx="374534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Summary of Findings: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31657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878860" y="320825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243620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Explainability through LLMs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088368"/>
            <a:ext cx="342149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Paper 1 demonstrates that natural language generation can enhance interpretability of traffic predictions, though computational costs remain prohibitive for real-time systems.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35893" y="31657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320963" y="320825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973008" y="3243620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Privacy through Federated Learning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73008" y="4088368"/>
            <a:ext cx="342149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Paper 2 shows that distributed training preserves data sovereignty while maintaining model accuracy, but communication overhead limits scalability.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77995" y="31657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9763065" y="320825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415111" y="3243620"/>
            <a:ext cx="34007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Integration Opportunity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415111" y="3734038"/>
            <a:ext cx="342149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Combining these approaches offers a promising direction for trustworthy, privacy-respecting ITS, contingent on addressing computational and communication challenges.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227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References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04686"/>
            <a:ext cx="13042821" cy="290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Paper 1: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Towards Explainable Traffic Flow Prediction with Large Language Models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arXiv:2404.02937v3 [cs.LG]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Guo et al., 2024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Paper 2: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Federated Learning in Intelligent Transportation Systems: Recent Advances and Open Problems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arXiv:2309.11039 [cs.LG]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Banik et al., 2023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1293</Words>
  <Application>Microsoft Office PowerPoint</Application>
  <PresentationFormat>Custom</PresentationFormat>
  <Paragraphs>192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Open Sans</vt:lpstr>
      <vt:lpstr>Arial</vt:lpstr>
      <vt:lpstr>Merriweather Bold</vt:lpstr>
      <vt:lpstr>Merriweather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Gitika Verma</cp:lastModifiedBy>
  <cp:revision>2</cp:revision>
  <dcterms:created xsi:type="dcterms:W3CDTF">2026-01-28T14:21:42Z</dcterms:created>
  <dcterms:modified xsi:type="dcterms:W3CDTF">2026-01-28T14:40:37Z</dcterms:modified>
</cp:coreProperties>
</file>